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3" r:id="rId5"/>
    <p:sldId id="264" r:id="rId6"/>
    <p:sldId id="265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38659" y="666750"/>
            <a:ext cx="914377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15000"/>
            </a:srgbClr>
          </a:solidFill>
          <a:ln w="2476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2956" y="852997"/>
            <a:ext cx="685782" cy="541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2018" y="1547301"/>
            <a:ext cx="10446746" cy="26116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800" b="1" dirty="0">
                <a:solidFill>
                  <a:srgbClr val="FFFFFF"/>
                </a:solidFill>
                <a:latin typeface="Orbitron"/>
              </a:rPr>
              <a:t>Design, and Implementation of Autonomous System For Path Identification, and Robotic Execution, with 3D Vision, and ROS2 </a:t>
            </a:r>
          </a:p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endParaRPr lang="en-US" sz="2800" b="1" dirty="0">
              <a:solidFill>
                <a:srgbClr val="FFFFFF"/>
              </a:solidFill>
              <a:latin typeface="Orbitron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262" y="3448049"/>
            <a:ext cx="121916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19027" y="4234419"/>
            <a:ext cx="4153638" cy="35881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lang="en-US" sz="1196" b="0" dirty="0">
                <a:solidFill>
                  <a:srgbClr val="E5E7EB"/>
                </a:solidFill>
                <a:latin typeface="Rajdhani"/>
              </a:rPr>
              <a:t>6-Axis Robotic Arm with Closed-Loop Control , and Vision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3311" y="48824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658" y="5054178"/>
            <a:ext cx="342891" cy="2660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78057" y="5567506"/>
            <a:ext cx="340093" cy="2680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37" b="0" dirty="0">
                <a:solidFill>
                  <a:srgbClr val="D1D5DB"/>
                </a:solidFill>
                <a:latin typeface="Rajdhani"/>
              </a:rPr>
              <a:t>MCU</a:t>
            </a:r>
            <a:endParaRPr sz="837" b="0" dirty="0">
              <a:solidFill>
                <a:srgbClr val="D1D5DB"/>
              </a:solidFill>
              <a:latin typeface="Rajdhan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95807" y="48824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154" y="5054178"/>
            <a:ext cx="342891" cy="2660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97273" y="5567506"/>
            <a:ext cx="816185" cy="2680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37" b="0" dirty="0">
                <a:solidFill>
                  <a:srgbClr val="D1D5DB"/>
                </a:solidFill>
                <a:latin typeface="Rajdhani"/>
              </a:rPr>
              <a:t>Control System</a:t>
            </a:r>
            <a:endParaRPr sz="837" b="0" dirty="0">
              <a:solidFill>
                <a:srgbClr val="D1D5DB"/>
              </a:solidFill>
              <a:latin typeface="Rajdhan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43551" y="48824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6898" y="5095562"/>
            <a:ext cx="342891" cy="18327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48303" y="5606300"/>
            <a:ext cx="8000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ajdhani"/>
              </a:rPr>
              <a:t>Machine Vision</a:t>
            </a: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502ED576-8B3C-410B-9E4C-BDA5D9EB25BD}"/>
              </a:ext>
            </a:extLst>
          </p:cNvPr>
          <p:cNvSpPr/>
          <p:nvPr/>
        </p:nvSpPr>
        <p:spPr>
          <a:xfrm>
            <a:off x="3914677" y="5924549"/>
            <a:ext cx="4362340" cy="552450"/>
          </a:xfrm>
          <a:prstGeom prst="roundRect">
            <a:avLst>
              <a:gd name="adj" fmla="val 27586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ED1518-70C1-4877-9937-A807D36A70D1}"/>
              </a:ext>
            </a:extLst>
          </p:cNvPr>
          <p:cNvSpPr txBox="1"/>
          <p:nvPr/>
        </p:nvSpPr>
        <p:spPr>
          <a:xfrm>
            <a:off x="4228994" y="6076289"/>
            <a:ext cx="3787246" cy="30149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E5E7EB"/>
                </a:solidFill>
                <a:latin typeface="Rajdhani"/>
              </a:rPr>
              <a:t> </a:t>
            </a:r>
            <a:r>
              <a:rPr sz="956" b="1" dirty="0">
                <a:solidFill>
                  <a:srgbClr val="00F5FF"/>
                </a:solidFill>
                <a:latin typeface="Rajdhani"/>
              </a:rPr>
              <a:t>Team Members:</a:t>
            </a:r>
            <a:r>
              <a:rPr sz="956" b="0" dirty="0">
                <a:solidFill>
                  <a:srgbClr val="E5E7EB"/>
                </a:solidFill>
                <a:latin typeface="Rajdhani"/>
              </a:rPr>
              <a:t> [</a:t>
            </a:r>
            <a:r>
              <a:rPr lang="en-US" sz="956" b="0" dirty="0">
                <a:solidFill>
                  <a:srgbClr val="E5E7EB"/>
                </a:solidFill>
                <a:latin typeface="Rajdhani"/>
              </a:rPr>
              <a:t>Ahmed Al-Duais</a:t>
            </a:r>
            <a:r>
              <a:rPr sz="956" b="0" dirty="0">
                <a:solidFill>
                  <a:srgbClr val="E5E7EB"/>
                </a:solidFill>
                <a:latin typeface="Rajdhani"/>
              </a:rPr>
              <a:t>]  </a:t>
            </a:r>
          </a:p>
        </p:txBody>
      </p:sp>
    </p:spTree>
    <p:extLst>
      <p:ext uri="{BB962C8B-B14F-4D97-AF65-F5344CB8AC3E}">
        <p14:creationId xmlns:p14="http://schemas.microsoft.com/office/powerpoint/2010/main" val="252167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9B822A7-6CAF-4E82-AC0C-197699B0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822" y="1466850"/>
            <a:ext cx="13688272" cy="7466330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EECA79D-0B27-488B-905E-C36FF159FC68}"/>
              </a:ext>
            </a:extLst>
          </p:cNvPr>
          <p:cNvSpPr/>
          <p:nvPr/>
        </p:nvSpPr>
        <p:spPr>
          <a:xfrm>
            <a:off x="-305" y="64770"/>
            <a:ext cx="12192000" cy="6705599"/>
          </a:xfrm>
          <a:custGeom>
            <a:avLst/>
            <a:gdLst>
              <a:gd name="connsiteX0" fmla="*/ 7490145 w 12192000"/>
              <a:gd name="connsiteY0" fmla="*/ 1692909 h 6705599"/>
              <a:gd name="connsiteX1" fmla="*/ 6981272 w 12192000"/>
              <a:gd name="connsiteY1" fmla="*/ 2201782 h 6705599"/>
              <a:gd name="connsiteX2" fmla="*/ 6981272 w 12192000"/>
              <a:gd name="connsiteY2" fmla="*/ 4237213 h 6705599"/>
              <a:gd name="connsiteX3" fmla="*/ 7490145 w 12192000"/>
              <a:gd name="connsiteY3" fmla="*/ 4746086 h 6705599"/>
              <a:gd name="connsiteX4" fmla="*/ 11673272 w 12192000"/>
              <a:gd name="connsiteY4" fmla="*/ 4746086 h 6705599"/>
              <a:gd name="connsiteX5" fmla="*/ 12182145 w 12192000"/>
              <a:gd name="connsiteY5" fmla="*/ 4237213 h 6705599"/>
              <a:gd name="connsiteX6" fmla="*/ 12182145 w 12192000"/>
              <a:gd name="connsiteY6" fmla="*/ 2201782 h 6705599"/>
              <a:gd name="connsiteX7" fmla="*/ 11673272 w 12192000"/>
              <a:gd name="connsiteY7" fmla="*/ 1692909 h 6705599"/>
              <a:gd name="connsiteX8" fmla="*/ 0 w 12192000"/>
              <a:gd name="connsiteY8" fmla="*/ 0 h 6705599"/>
              <a:gd name="connsiteX9" fmla="*/ 12192000 w 12192000"/>
              <a:gd name="connsiteY9" fmla="*/ 0 h 6705599"/>
              <a:gd name="connsiteX10" fmla="*/ 12192000 w 12192000"/>
              <a:gd name="connsiteY10" fmla="*/ 6705599 h 6705599"/>
              <a:gd name="connsiteX11" fmla="*/ 0 w 12192000"/>
              <a:gd name="connsiteY11" fmla="*/ 6705599 h 670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705599">
                <a:moveTo>
                  <a:pt x="7490145" y="1692909"/>
                </a:moveTo>
                <a:cubicBezTo>
                  <a:pt x="7209102" y="1692909"/>
                  <a:pt x="6981272" y="1920739"/>
                  <a:pt x="6981272" y="2201782"/>
                </a:cubicBezTo>
                <a:lnTo>
                  <a:pt x="6981272" y="4237213"/>
                </a:lnTo>
                <a:cubicBezTo>
                  <a:pt x="6981272" y="4518256"/>
                  <a:pt x="7209102" y="4746086"/>
                  <a:pt x="7490145" y="4746086"/>
                </a:cubicBezTo>
                <a:lnTo>
                  <a:pt x="11673272" y="4746086"/>
                </a:lnTo>
                <a:cubicBezTo>
                  <a:pt x="11954315" y="4746086"/>
                  <a:pt x="12182145" y="4518256"/>
                  <a:pt x="12182145" y="4237213"/>
                </a:cubicBezTo>
                <a:lnTo>
                  <a:pt x="12182145" y="2201782"/>
                </a:lnTo>
                <a:cubicBezTo>
                  <a:pt x="12182145" y="1920739"/>
                  <a:pt x="11954315" y="1692909"/>
                  <a:pt x="11673272" y="169290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705599"/>
                </a:lnTo>
                <a:lnTo>
                  <a:pt x="0" y="6705599"/>
                </a:lnTo>
                <a:close/>
              </a:path>
            </a:pathLst>
          </a:custGeom>
          <a:solidFill>
            <a:srgbClr val="0C1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742950"/>
            <a:ext cx="64006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780"/>
              </a:spcAft>
            </a:pPr>
            <a:r>
              <a:rPr sz="2392" b="1">
                <a:solidFill>
                  <a:srgbClr val="FFFFFF"/>
                </a:solidFill>
                <a:latin typeface="Orbitron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428750"/>
            <a:ext cx="914377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864" y="1619250"/>
            <a:ext cx="64006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ajdhani"/>
              </a:rPr>
              <a:t>Advanced 6-axis robotic system with embedded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1907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6524" y="25438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0174" y="2343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472" y="2527788"/>
            <a:ext cx="304792" cy="16412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19809" y="5105400"/>
            <a:ext cx="3962300" cy="990599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848403" y="55816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38899" y="5457077"/>
            <a:ext cx="1636923" cy="3253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1" dirty="0">
                <a:solidFill>
                  <a:srgbClr val="00F5FF"/>
                </a:solidFill>
                <a:latin typeface="Rajdhani"/>
              </a:rPr>
              <a:t>3D Vision &amp; Depth Sensing</a:t>
            </a:r>
            <a:endParaRPr sz="1076" b="1" dirty="0">
              <a:solidFill>
                <a:srgbClr val="00F5FF"/>
              </a:solidFill>
              <a:latin typeface="Rajdhan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827495-02E1-4865-8386-24CA03BF8872}"/>
              </a:ext>
            </a:extLst>
          </p:cNvPr>
          <p:cNvSpPr txBox="1"/>
          <p:nvPr/>
        </p:nvSpPr>
        <p:spPr>
          <a:xfrm>
            <a:off x="1523961" y="2372264"/>
            <a:ext cx="3167790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3D vision, and Depth sensing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B03A6C-4D55-4750-ABB1-AD4946B13C66}"/>
              </a:ext>
            </a:extLst>
          </p:cNvPr>
          <p:cNvSpPr txBox="1"/>
          <p:nvPr/>
        </p:nvSpPr>
        <p:spPr>
          <a:xfrm>
            <a:off x="1535310" y="2680299"/>
            <a:ext cx="413600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Determining The Aspects of Path in 3D Dimension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9B822A7-6CAF-4E82-AC0C-197699B0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3" y="1447800"/>
            <a:ext cx="13688272" cy="7466330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EECA79D-0B27-488B-905E-C36FF159FC68}"/>
              </a:ext>
            </a:extLst>
          </p:cNvPr>
          <p:cNvSpPr/>
          <p:nvPr/>
        </p:nvSpPr>
        <p:spPr>
          <a:xfrm>
            <a:off x="-305" y="64770"/>
            <a:ext cx="12192000" cy="6705599"/>
          </a:xfrm>
          <a:custGeom>
            <a:avLst/>
            <a:gdLst>
              <a:gd name="connsiteX0" fmla="*/ 7490145 w 12192000"/>
              <a:gd name="connsiteY0" fmla="*/ 1692909 h 6705599"/>
              <a:gd name="connsiteX1" fmla="*/ 6981272 w 12192000"/>
              <a:gd name="connsiteY1" fmla="*/ 2201782 h 6705599"/>
              <a:gd name="connsiteX2" fmla="*/ 6981272 w 12192000"/>
              <a:gd name="connsiteY2" fmla="*/ 4237213 h 6705599"/>
              <a:gd name="connsiteX3" fmla="*/ 7490145 w 12192000"/>
              <a:gd name="connsiteY3" fmla="*/ 4746086 h 6705599"/>
              <a:gd name="connsiteX4" fmla="*/ 11673272 w 12192000"/>
              <a:gd name="connsiteY4" fmla="*/ 4746086 h 6705599"/>
              <a:gd name="connsiteX5" fmla="*/ 12182145 w 12192000"/>
              <a:gd name="connsiteY5" fmla="*/ 4237213 h 6705599"/>
              <a:gd name="connsiteX6" fmla="*/ 12182145 w 12192000"/>
              <a:gd name="connsiteY6" fmla="*/ 2201782 h 6705599"/>
              <a:gd name="connsiteX7" fmla="*/ 11673272 w 12192000"/>
              <a:gd name="connsiteY7" fmla="*/ 1692909 h 6705599"/>
              <a:gd name="connsiteX8" fmla="*/ 0 w 12192000"/>
              <a:gd name="connsiteY8" fmla="*/ 0 h 6705599"/>
              <a:gd name="connsiteX9" fmla="*/ 12192000 w 12192000"/>
              <a:gd name="connsiteY9" fmla="*/ 0 h 6705599"/>
              <a:gd name="connsiteX10" fmla="*/ 12192000 w 12192000"/>
              <a:gd name="connsiteY10" fmla="*/ 6705599 h 6705599"/>
              <a:gd name="connsiteX11" fmla="*/ 0 w 12192000"/>
              <a:gd name="connsiteY11" fmla="*/ 6705599 h 670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705599">
                <a:moveTo>
                  <a:pt x="7490145" y="1692909"/>
                </a:moveTo>
                <a:cubicBezTo>
                  <a:pt x="7209102" y="1692909"/>
                  <a:pt x="6981272" y="1920739"/>
                  <a:pt x="6981272" y="2201782"/>
                </a:cubicBezTo>
                <a:lnTo>
                  <a:pt x="6981272" y="4237213"/>
                </a:lnTo>
                <a:cubicBezTo>
                  <a:pt x="6981272" y="4518256"/>
                  <a:pt x="7209102" y="4746086"/>
                  <a:pt x="7490145" y="4746086"/>
                </a:cubicBezTo>
                <a:lnTo>
                  <a:pt x="11673272" y="4746086"/>
                </a:lnTo>
                <a:cubicBezTo>
                  <a:pt x="11954315" y="4746086"/>
                  <a:pt x="12182145" y="4518256"/>
                  <a:pt x="12182145" y="4237213"/>
                </a:cubicBezTo>
                <a:lnTo>
                  <a:pt x="12182145" y="2201782"/>
                </a:lnTo>
                <a:cubicBezTo>
                  <a:pt x="12182145" y="1920739"/>
                  <a:pt x="11954315" y="1692909"/>
                  <a:pt x="11673272" y="169290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705599"/>
                </a:lnTo>
                <a:lnTo>
                  <a:pt x="0" y="6705599"/>
                </a:lnTo>
                <a:close/>
              </a:path>
            </a:pathLst>
          </a:custGeom>
          <a:solidFill>
            <a:srgbClr val="0C1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742950"/>
            <a:ext cx="64006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780"/>
              </a:spcAft>
            </a:pPr>
            <a:r>
              <a:rPr sz="2392" b="1">
                <a:solidFill>
                  <a:srgbClr val="FFFFFF"/>
                </a:solidFill>
                <a:latin typeface="Orbitron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428750"/>
            <a:ext cx="914377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864" y="1619250"/>
            <a:ext cx="64006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ajdhani"/>
              </a:rPr>
              <a:t>Advanced 6-axis robotic system with embedded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1907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6524" y="25438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584" y="32194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56524" y="35725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079" y="3371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3521319"/>
            <a:ext cx="304792" cy="23446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74" y="2343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472" y="2527788"/>
            <a:ext cx="304792" cy="16412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19809" y="5105400"/>
            <a:ext cx="3962300" cy="990599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7848403" y="5534773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38899" y="5410200"/>
            <a:ext cx="1186479" cy="3253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1" dirty="0">
                <a:solidFill>
                  <a:srgbClr val="00F5FF"/>
                </a:solidFill>
                <a:latin typeface="Rajdhani"/>
              </a:rPr>
              <a:t>Image Processing </a:t>
            </a:r>
            <a:endParaRPr sz="1076" b="1" dirty="0">
              <a:solidFill>
                <a:srgbClr val="00F5FF"/>
              </a:solidFill>
              <a:latin typeface="Rajdhan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827495-02E1-4865-8386-24CA03BF8872}"/>
              </a:ext>
            </a:extLst>
          </p:cNvPr>
          <p:cNvSpPr txBox="1"/>
          <p:nvPr/>
        </p:nvSpPr>
        <p:spPr>
          <a:xfrm>
            <a:off x="1523961" y="2372264"/>
            <a:ext cx="3167790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3D vision, and Depth sensing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89125E-CF1B-45CF-911E-EA4E430A4A6F}"/>
              </a:ext>
            </a:extLst>
          </p:cNvPr>
          <p:cNvSpPr txBox="1"/>
          <p:nvPr/>
        </p:nvSpPr>
        <p:spPr>
          <a:xfrm>
            <a:off x="1523961" y="3387290"/>
            <a:ext cx="2414379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Image Processing, AI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B03A6C-4D55-4750-ABB1-AD4946B13C66}"/>
              </a:ext>
            </a:extLst>
          </p:cNvPr>
          <p:cNvSpPr txBox="1"/>
          <p:nvPr/>
        </p:nvSpPr>
        <p:spPr>
          <a:xfrm>
            <a:off x="1535310" y="2680299"/>
            <a:ext cx="413600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Determining The Aspects of Path in 3D Dimension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237497-E767-4CD3-873E-02B6D8285DC8}"/>
              </a:ext>
            </a:extLst>
          </p:cNvPr>
          <p:cNvSpPr txBox="1"/>
          <p:nvPr/>
        </p:nvSpPr>
        <p:spPr>
          <a:xfrm>
            <a:off x="1535310" y="3715749"/>
            <a:ext cx="5445658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Processing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T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he Taken Image, to Identify The Path of the Operation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53396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9B822A7-6CAF-4E82-AC0C-197699B0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85" y="-2333103"/>
            <a:ext cx="13688272" cy="7466330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EECA79D-0B27-488B-905E-C36FF159FC68}"/>
              </a:ext>
            </a:extLst>
          </p:cNvPr>
          <p:cNvSpPr/>
          <p:nvPr/>
        </p:nvSpPr>
        <p:spPr>
          <a:xfrm>
            <a:off x="-305" y="64770"/>
            <a:ext cx="12192000" cy="6705599"/>
          </a:xfrm>
          <a:custGeom>
            <a:avLst/>
            <a:gdLst>
              <a:gd name="connsiteX0" fmla="*/ 7490145 w 12192000"/>
              <a:gd name="connsiteY0" fmla="*/ 1692909 h 6705599"/>
              <a:gd name="connsiteX1" fmla="*/ 6981272 w 12192000"/>
              <a:gd name="connsiteY1" fmla="*/ 2201782 h 6705599"/>
              <a:gd name="connsiteX2" fmla="*/ 6981272 w 12192000"/>
              <a:gd name="connsiteY2" fmla="*/ 4237213 h 6705599"/>
              <a:gd name="connsiteX3" fmla="*/ 7490145 w 12192000"/>
              <a:gd name="connsiteY3" fmla="*/ 4746086 h 6705599"/>
              <a:gd name="connsiteX4" fmla="*/ 11673272 w 12192000"/>
              <a:gd name="connsiteY4" fmla="*/ 4746086 h 6705599"/>
              <a:gd name="connsiteX5" fmla="*/ 12182145 w 12192000"/>
              <a:gd name="connsiteY5" fmla="*/ 4237213 h 6705599"/>
              <a:gd name="connsiteX6" fmla="*/ 12182145 w 12192000"/>
              <a:gd name="connsiteY6" fmla="*/ 2201782 h 6705599"/>
              <a:gd name="connsiteX7" fmla="*/ 11673272 w 12192000"/>
              <a:gd name="connsiteY7" fmla="*/ 1692909 h 6705599"/>
              <a:gd name="connsiteX8" fmla="*/ 0 w 12192000"/>
              <a:gd name="connsiteY8" fmla="*/ 0 h 6705599"/>
              <a:gd name="connsiteX9" fmla="*/ 12192000 w 12192000"/>
              <a:gd name="connsiteY9" fmla="*/ 0 h 6705599"/>
              <a:gd name="connsiteX10" fmla="*/ 12192000 w 12192000"/>
              <a:gd name="connsiteY10" fmla="*/ 6705599 h 6705599"/>
              <a:gd name="connsiteX11" fmla="*/ 0 w 12192000"/>
              <a:gd name="connsiteY11" fmla="*/ 6705599 h 670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705599">
                <a:moveTo>
                  <a:pt x="7490145" y="1692909"/>
                </a:moveTo>
                <a:cubicBezTo>
                  <a:pt x="7209102" y="1692909"/>
                  <a:pt x="6981272" y="1920739"/>
                  <a:pt x="6981272" y="2201782"/>
                </a:cubicBezTo>
                <a:lnTo>
                  <a:pt x="6981272" y="4237213"/>
                </a:lnTo>
                <a:cubicBezTo>
                  <a:pt x="6981272" y="4518256"/>
                  <a:pt x="7209102" y="4746086"/>
                  <a:pt x="7490145" y="4746086"/>
                </a:cubicBezTo>
                <a:lnTo>
                  <a:pt x="11673272" y="4746086"/>
                </a:lnTo>
                <a:cubicBezTo>
                  <a:pt x="11954315" y="4746086"/>
                  <a:pt x="12182145" y="4518256"/>
                  <a:pt x="12182145" y="4237213"/>
                </a:cubicBezTo>
                <a:lnTo>
                  <a:pt x="12182145" y="2201782"/>
                </a:lnTo>
                <a:cubicBezTo>
                  <a:pt x="12182145" y="1920739"/>
                  <a:pt x="11954315" y="1692909"/>
                  <a:pt x="11673272" y="169290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705599"/>
                </a:lnTo>
                <a:lnTo>
                  <a:pt x="0" y="6705599"/>
                </a:lnTo>
                <a:close/>
              </a:path>
            </a:pathLst>
          </a:custGeom>
          <a:solidFill>
            <a:srgbClr val="0C1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742950"/>
            <a:ext cx="64006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780"/>
              </a:spcAft>
            </a:pPr>
            <a:r>
              <a:rPr sz="2392" b="1">
                <a:solidFill>
                  <a:srgbClr val="FFFFFF"/>
                </a:solidFill>
                <a:latin typeface="Orbitron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428750"/>
            <a:ext cx="914377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864" y="1619250"/>
            <a:ext cx="64006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ajdhani"/>
              </a:rPr>
              <a:t>Advanced 6-axis robotic system with embedded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1907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6524" y="25438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584" y="32194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56524" y="35725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079" y="3371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3521319"/>
            <a:ext cx="304792" cy="23446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9584" y="4248150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56524" y="4601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0079" y="44005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4523642"/>
            <a:ext cx="304792" cy="287215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74" y="2343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472" y="2527788"/>
            <a:ext cx="304792" cy="16412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19809" y="5105400"/>
            <a:ext cx="3962300" cy="990599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7944722" y="5562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827495-02E1-4865-8386-24CA03BF8872}"/>
              </a:ext>
            </a:extLst>
          </p:cNvPr>
          <p:cNvSpPr txBox="1"/>
          <p:nvPr/>
        </p:nvSpPr>
        <p:spPr>
          <a:xfrm>
            <a:off x="1523961" y="2372264"/>
            <a:ext cx="3167790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3D vision, and Depth sensing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89125E-CF1B-45CF-911E-EA4E430A4A6F}"/>
              </a:ext>
            </a:extLst>
          </p:cNvPr>
          <p:cNvSpPr txBox="1"/>
          <p:nvPr/>
        </p:nvSpPr>
        <p:spPr>
          <a:xfrm>
            <a:off x="1523961" y="3387290"/>
            <a:ext cx="2414379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Image Processing, AI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1C2A91-25AC-4E22-B8B1-79D3CB1CE19D}"/>
              </a:ext>
            </a:extLst>
          </p:cNvPr>
          <p:cNvSpPr txBox="1"/>
          <p:nvPr/>
        </p:nvSpPr>
        <p:spPr>
          <a:xfrm>
            <a:off x="1523961" y="4437777"/>
            <a:ext cx="1771575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Control System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B03A6C-4D55-4750-ABB1-AD4946B13C66}"/>
              </a:ext>
            </a:extLst>
          </p:cNvPr>
          <p:cNvSpPr txBox="1"/>
          <p:nvPr/>
        </p:nvSpPr>
        <p:spPr>
          <a:xfrm>
            <a:off x="1535310" y="2680299"/>
            <a:ext cx="413600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Determining The Aspects of Path in 3D Dimension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237497-E767-4CD3-873E-02B6D8285DC8}"/>
              </a:ext>
            </a:extLst>
          </p:cNvPr>
          <p:cNvSpPr txBox="1"/>
          <p:nvPr/>
        </p:nvSpPr>
        <p:spPr>
          <a:xfrm>
            <a:off x="1535310" y="3715749"/>
            <a:ext cx="5445658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Processing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T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he Taken Image, to Identify The Path of the Operation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EFF030-5BEB-4BFD-A74E-B21C176AB737}"/>
              </a:ext>
            </a:extLst>
          </p:cNvPr>
          <p:cNvSpPr txBox="1"/>
          <p:nvPr/>
        </p:nvSpPr>
        <p:spPr>
          <a:xfrm>
            <a:off x="1535310" y="4765015"/>
            <a:ext cx="510742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Specify the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P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arameters Needed to Execute The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I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dentified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P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ath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41CF56-1DF9-4E06-B77E-DE88BCB75113}"/>
              </a:ext>
            </a:extLst>
          </p:cNvPr>
          <p:cNvSpPr txBox="1"/>
          <p:nvPr/>
        </p:nvSpPr>
        <p:spPr>
          <a:xfrm>
            <a:off x="8153195" y="5410200"/>
            <a:ext cx="1022972" cy="3253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1" dirty="0">
                <a:solidFill>
                  <a:srgbClr val="00F5FF"/>
                </a:solidFill>
                <a:latin typeface="Rajdhani"/>
              </a:rPr>
              <a:t>Control System</a:t>
            </a:r>
            <a:endParaRPr sz="1076" b="1" dirty="0">
              <a:solidFill>
                <a:srgbClr val="00F5FF"/>
              </a:solidFill>
              <a:latin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1042333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9B822A7-6CAF-4E82-AC0C-197699B0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6272" y="-2401571"/>
            <a:ext cx="13688272" cy="7466330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EECA79D-0B27-488B-905E-C36FF159FC68}"/>
              </a:ext>
            </a:extLst>
          </p:cNvPr>
          <p:cNvSpPr/>
          <p:nvPr/>
        </p:nvSpPr>
        <p:spPr>
          <a:xfrm>
            <a:off x="-305" y="64770"/>
            <a:ext cx="12192000" cy="6705599"/>
          </a:xfrm>
          <a:custGeom>
            <a:avLst/>
            <a:gdLst>
              <a:gd name="connsiteX0" fmla="*/ 7490145 w 12192000"/>
              <a:gd name="connsiteY0" fmla="*/ 1692909 h 6705599"/>
              <a:gd name="connsiteX1" fmla="*/ 6981272 w 12192000"/>
              <a:gd name="connsiteY1" fmla="*/ 2201782 h 6705599"/>
              <a:gd name="connsiteX2" fmla="*/ 6981272 w 12192000"/>
              <a:gd name="connsiteY2" fmla="*/ 4237213 h 6705599"/>
              <a:gd name="connsiteX3" fmla="*/ 7490145 w 12192000"/>
              <a:gd name="connsiteY3" fmla="*/ 4746086 h 6705599"/>
              <a:gd name="connsiteX4" fmla="*/ 11673272 w 12192000"/>
              <a:gd name="connsiteY4" fmla="*/ 4746086 h 6705599"/>
              <a:gd name="connsiteX5" fmla="*/ 12182145 w 12192000"/>
              <a:gd name="connsiteY5" fmla="*/ 4237213 h 6705599"/>
              <a:gd name="connsiteX6" fmla="*/ 12182145 w 12192000"/>
              <a:gd name="connsiteY6" fmla="*/ 2201782 h 6705599"/>
              <a:gd name="connsiteX7" fmla="*/ 11673272 w 12192000"/>
              <a:gd name="connsiteY7" fmla="*/ 1692909 h 6705599"/>
              <a:gd name="connsiteX8" fmla="*/ 0 w 12192000"/>
              <a:gd name="connsiteY8" fmla="*/ 0 h 6705599"/>
              <a:gd name="connsiteX9" fmla="*/ 12192000 w 12192000"/>
              <a:gd name="connsiteY9" fmla="*/ 0 h 6705599"/>
              <a:gd name="connsiteX10" fmla="*/ 12192000 w 12192000"/>
              <a:gd name="connsiteY10" fmla="*/ 6705599 h 6705599"/>
              <a:gd name="connsiteX11" fmla="*/ 0 w 12192000"/>
              <a:gd name="connsiteY11" fmla="*/ 6705599 h 670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705599">
                <a:moveTo>
                  <a:pt x="7490145" y="1692909"/>
                </a:moveTo>
                <a:cubicBezTo>
                  <a:pt x="7209102" y="1692909"/>
                  <a:pt x="6981272" y="1920739"/>
                  <a:pt x="6981272" y="2201782"/>
                </a:cubicBezTo>
                <a:lnTo>
                  <a:pt x="6981272" y="4237213"/>
                </a:lnTo>
                <a:cubicBezTo>
                  <a:pt x="6981272" y="4518256"/>
                  <a:pt x="7209102" y="4746086"/>
                  <a:pt x="7490145" y="4746086"/>
                </a:cubicBezTo>
                <a:lnTo>
                  <a:pt x="11673272" y="4746086"/>
                </a:lnTo>
                <a:cubicBezTo>
                  <a:pt x="11954315" y="4746086"/>
                  <a:pt x="12182145" y="4518256"/>
                  <a:pt x="12182145" y="4237213"/>
                </a:cubicBezTo>
                <a:lnTo>
                  <a:pt x="12182145" y="2201782"/>
                </a:lnTo>
                <a:cubicBezTo>
                  <a:pt x="12182145" y="1920739"/>
                  <a:pt x="11954315" y="1692909"/>
                  <a:pt x="11673272" y="169290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705599"/>
                </a:lnTo>
                <a:lnTo>
                  <a:pt x="0" y="6705599"/>
                </a:lnTo>
                <a:close/>
              </a:path>
            </a:pathLst>
          </a:custGeom>
          <a:solidFill>
            <a:srgbClr val="0C1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742950"/>
            <a:ext cx="64006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780"/>
              </a:spcAft>
            </a:pPr>
            <a:r>
              <a:rPr sz="2392" b="1">
                <a:solidFill>
                  <a:srgbClr val="FFFFFF"/>
                </a:solidFill>
                <a:latin typeface="Orbitron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428750"/>
            <a:ext cx="914377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864" y="1619250"/>
            <a:ext cx="64006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ajdhani"/>
              </a:rPr>
              <a:t>Advanced 6-axis robotic system with embedded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1907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6524" y="25438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584" y="32194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56524" y="35725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079" y="3371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3521319"/>
            <a:ext cx="304792" cy="23446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9584" y="4248150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56524" y="4601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0079" y="44005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4523642"/>
            <a:ext cx="304792" cy="28721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09584" y="5276850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256524" y="56299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0174" y="2343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472" y="2527788"/>
            <a:ext cx="304792" cy="16412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19809" y="5105400"/>
            <a:ext cx="3962300" cy="990599"/>
          </a:xfrm>
          <a:prstGeom prst="rect">
            <a:avLst/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848403" y="5603703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38899" y="5479130"/>
            <a:ext cx="822597" cy="3253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1" dirty="0">
                <a:solidFill>
                  <a:srgbClr val="00F5FF"/>
                </a:solidFill>
                <a:latin typeface="Rajdhani"/>
              </a:rPr>
              <a:t>6Axis Robot</a:t>
            </a:r>
            <a:endParaRPr sz="1076" b="1" dirty="0">
              <a:solidFill>
                <a:srgbClr val="00F5FF"/>
              </a:solidFill>
              <a:latin typeface="Rajdhan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A2A8040B-2456-44B9-B756-5760E639E0C0}"/>
              </a:ext>
            </a:extLst>
          </p:cNvPr>
          <p:cNvSpPr/>
          <p:nvPr/>
        </p:nvSpPr>
        <p:spPr>
          <a:xfrm>
            <a:off x="800079" y="54355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D0E1C663-FDC5-4B38-906C-F03A43BD975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377" y="5579206"/>
            <a:ext cx="304792" cy="2461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D827495-02E1-4865-8386-24CA03BF8872}"/>
              </a:ext>
            </a:extLst>
          </p:cNvPr>
          <p:cNvSpPr txBox="1"/>
          <p:nvPr/>
        </p:nvSpPr>
        <p:spPr>
          <a:xfrm>
            <a:off x="1523961" y="2372264"/>
            <a:ext cx="3167790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3D vision, and Depth sensing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89125E-CF1B-45CF-911E-EA4E430A4A6F}"/>
              </a:ext>
            </a:extLst>
          </p:cNvPr>
          <p:cNvSpPr txBox="1"/>
          <p:nvPr/>
        </p:nvSpPr>
        <p:spPr>
          <a:xfrm>
            <a:off x="1523961" y="3387290"/>
            <a:ext cx="2414379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Image Processing, AI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1C2A91-25AC-4E22-B8B1-79D3CB1CE19D}"/>
              </a:ext>
            </a:extLst>
          </p:cNvPr>
          <p:cNvSpPr txBox="1"/>
          <p:nvPr/>
        </p:nvSpPr>
        <p:spPr>
          <a:xfrm>
            <a:off x="1523961" y="4437777"/>
            <a:ext cx="1771575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Control System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9697AD-D2FD-471F-80BA-6287C8F113F2}"/>
              </a:ext>
            </a:extLst>
          </p:cNvPr>
          <p:cNvSpPr txBox="1"/>
          <p:nvPr/>
        </p:nvSpPr>
        <p:spPr>
          <a:xfrm>
            <a:off x="1447763" y="5443607"/>
            <a:ext cx="2121030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2000" b="1" dirty="0">
                <a:solidFill>
                  <a:srgbClr val="FFFFFF"/>
                </a:solidFill>
                <a:latin typeface="Rajdhani"/>
              </a:rPr>
              <a:t>6 Axis Robotic Arm</a:t>
            </a:r>
            <a:endParaRPr sz="2000" b="1" dirty="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B03A6C-4D55-4750-ABB1-AD4946B13C66}"/>
              </a:ext>
            </a:extLst>
          </p:cNvPr>
          <p:cNvSpPr txBox="1"/>
          <p:nvPr/>
        </p:nvSpPr>
        <p:spPr>
          <a:xfrm>
            <a:off x="1535310" y="2680299"/>
            <a:ext cx="413600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Determining The Aspects of Path in 3D Dimension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237497-E767-4CD3-873E-02B6D8285DC8}"/>
              </a:ext>
            </a:extLst>
          </p:cNvPr>
          <p:cNvSpPr txBox="1"/>
          <p:nvPr/>
        </p:nvSpPr>
        <p:spPr>
          <a:xfrm>
            <a:off x="1535310" y="3715749"/>
            <a:ext cx="5445658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Processing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T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he Taken Image, to Identify The Path of the Operation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EFF030-5BEB-4BFD-A74E-B21C176AB737}"/>
              </a:ext>
            </a:extLst>
          </p:cNvPr>
          <p:cNvSpPr txBox="1"/>
          <p:nvPr/>
        </p:nvSpPr>
        <p:spPr>
          <a:xfrm>
            <a:off x="1535310" y="4765015"/>
            <a:ext cx="5107424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Specify the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P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arameters Needed to Execute The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I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dentified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P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ath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8C1BCC-0B93-47A9-BEA8-1EC3B8116F95}"/>
              </a:ext>
            </a:extLst>
          </p:cNvPr>
          <p:cNvSpPr txBox="1"/>
          <p:nvPr/>
        </p:nvSpPr>
        <p:spPr>
          <a:xfrm>
            <a:off x="1564550" y="5769609"/>
            <a:ext cx="2335832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9CA3AF"/>
                </a:solidFill>
                <a:latin typeface="Roboto"/>
              </a:rPr>
              <a:t>Execute </a:t>
            </a:r>
            <a:r>
              <a:rPr lang="en-US" sz="1400" dirty="0">
                <a:solidFill>
                  <a:srgbClr val="9CA3AF"/>
                </a:solidFill>
                <a:latin typeface="Roboto"/>
              </a:rPr>
              <a:t>T</a:t>
            </a:r>
            <a:r>
              <a:rPr lang="en-US" sz="1400" b="0" dirty="0">
                <a:solidFill>
                  <a:srgbClr val="9CA3AF"/>
                </a:solidFill>
                <a:latin typeface="Roboto"/>
              </a:rPr>
              <a:t>he Identified Path</a:t>
            </a:r>
            <a:endParaRPr sz="1400" b="0" dirty="0">
              <a:solidFill>
                <a:srgbClr val="9CA3AF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21300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50000">
                <a:srgbClr val="00F5FF"/>
              </a:gs>
              <a:gs pos="100000">
                <a:srgbClr val="00D9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45C33C-1BCE-4B4E-B5E3-74C567F5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99"/>
            <a:ext cx="12192000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08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/>
            </a:gs>
            <a:gs pos="100000">
              <a:srgbClr val="11224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92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225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Orbitron</vt:lpstr>
      <vt:lpstr>Rajdhani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Ahmed Al-Duais</dc:creator>
  <cp:keywords/>
  <dc:description>generated using python-pptx</dc:description>
  <cp:lastModifiedBy>Ahmed</cp:lastModifiedBy>
  <cp:revision>14</cp:revision>
  <dcterms:created xsi:type="dcterms:W3CDTF">2013-01-27T09:14:16Z</dcterms:created>
  <dcterms:modified xsi:type="dcterms:W3CDTF">2026-04-03T23:35:31Z</dcterms:modified>
  <cp:category/>
</cp:coreProperties>
</file>